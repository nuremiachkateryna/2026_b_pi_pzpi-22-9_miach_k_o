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7" r:id="rId9"/>
    <p:sldId id="261" r:id="rId10"/>
    <p:sldId id="264" r:id="rId11"/>
    <p:sldId id="273" r:id="rId12"/>
    <p:sldId id="271" r:id="rId13"/>
    <p:sldId id="268" r:id="rId14"/>
    <p:sldId id="267" r:id="rId15"/>
  </p:sldIdLst>
  <p:sldSz cx="9144000" cy="5143500" type="screen16x9"/>
  <p:notesSz cx="6858000" cy="9144000"/>
  <p:embeddedFontLst>
    <p:embeddedFont>
      <p:font typeface="Economica" panose="020B060402020202020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4037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6132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7515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1969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6227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131174" y="3593150"/>
            <a:ext cx="6021465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 dirty="0"/>
              <a:t>ПІБ, група:              М’яч Катерина Олександрівна, ПЗП</a:t>
            </a:r>
            <a:r>
              <a:rPr lang="uk-UA" sz="1900" dirty="0"/>
              <a:t>І-22-9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 dirty="0"/>
              <a:t>Керівник:                </a:t>
            </a:r>
            <a:r>
              <a:rPr lang="uk-UA" sz="19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ст.викл</a:t>
            </a:r>
            <a:r>
              <a:rPr lang="uk-UA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кафедри ПІ Катерина </a:t>
            </a:r>
            <a:r>
              <a:rPr lang="uk-UA" sz="19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Зибіна</a:t>
            </a:r>
            <a:endParaRPr lang="uk-UA" sz="1900" noProof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 	29 червня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1;p14">
            <a:extLst>
              <a:ext uri="{FF2B5EF4-FFF2-40B4-BE49-F238E27FC236}">
                <a16:creationId xmlns:a16="http://schemas.microsoft.com/office/drawing/2014/main" id="{CCC821F9-F109-68BA-2EEB-7AED391FC86A}"/>
              </a:ext>
            </a:extLst>
          </p:cNvPr>
          <p:cNvSpPr txBox="1">
            <a:spLocks/>
          </p:cNvSpPr>
          <p:nvPr/>
        </p:nvSpPr>
        <p:spPr>
          <a:xfrm>
            <a:off x="2769148" y="560600"/>
            <a:ext cx="3200829" cy="1710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l"/>
            <a:r>
              <a:rPr lang="uk-UA" sz="1800" noProof="1"/>
              <a:t>Вебзастосунок для вивчення англійської мови. Розробка гейміфікованого навчального модуля та інтеграція голосового AI-чату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055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ru-RU" dirty="0"/>
              <a:t>Метою </a:t>
            </a:r>
            <a:r>
              <a:rPr lang="ru-RU" noProof="1"/>
              <a:t>кваліфікаційної</a:t>
            </a:r>
            <a:r>
              <a:rPr lang="ru-RU" dirty="0"/>
              <a:t> </a:t>
            </a:r>
            <a:r>
              <a:rPr lang="uk-UA" dirty="0"/>
              <a:t>роботи</a:t>
            </a:r>
            <a:r>
              <a:rPr lang="ru-RU" dirty="0"/>
              <a:t> є </a:t>
            </a:r>
            <a:r>
              <a:rPr lang="uk-UA" noProof="1"/>
              <a:t>розробка</a:t>
            </a:r>
            <a:r>
              <a:rPr lang="ru-RU" dirty="0"/>
              <a:t> вебзастосунку для вивчення англійської мови, яка дозволить автоматизувати та персоналізувати процес опанування іноземної мови. Програмна система повинна забезпечити ефективне подолання мовного бар’єра через практичне спілкування з </a:t>
            </a:r>
            <a:r>
              <a:rPr lang="nl-BE" dirty="0"/>
              <a:t>AI-</a:t>
            </a:r>
            <a:r>
              <a:rPr lang="ru-RU" dirty="0"/>
              <a:t>асистентом, при цьому підвищуючи тривалу мотивацію користувачів за допомогою ігрових </a:t>
            </a:r>
            <a:r>
              <a:rPr lang="uk-UA" dirty="0"/>
              <a:t>механік</a:t>
            </a:r>
            <a:r>
              <a:rPr lang="ru-RU" dirty="0"/>
              <a:t>.</a:t>
            </a:r>
            <a:endParaRPr lang="ru-RU"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uk-UA" noProof="1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1704043" y="3252529"/>
            <a:ext cx="1276788" cy="933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nl-BE" i="0" dirty="0">
                <a:solidFill>
                  <a:srgbClr val="2B2D3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Duolingo</a:t>
            </a:r>
            <a:endParaRPr lang="en-BE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786525-2AED-9BC6-E375-27BBA2CA0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08" y="1249621"/>
            <a:ext cx="4165858" cy="22047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67C241-EEED-113C-5EC6-DD8DB0EED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634" y="1246329"/>
            <a:ext cx="4165858" cy="22080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C855D13E-BF85-F1BE-5D99-2E1C9B9B2E79}"/>
              </a:ext>
            </a:extLst>
          </p:cNvPr>
          <p:cNvSpPr txBox="1">
            <a:spLocks/>
          </p:cNvSpPr>
          <p:nvPr/>
        </p:nvSpPr>
        <p:spPr>
          <a:xfrm>
            <a:off x="6445744" y="3252529"/>
            <a:ext cx="711638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500"/>
              </a:spcBef>
              <a:buFont typeface="Open Sans"/>
              <a:buNone/>
            </a:pPr>
            <a:r>
              <a:rPr lang="nl-BE" i="0" dirty="0">
                <a:solidFill>
                  <a:srgbClr val="2B2D3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iTalki</a:t>
            </a:r>
            <a:endParaRPr lang="en-BE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89A809-80E6-A9A7-F000-D7BCD23075D9}"/>
              </a:ext>
            </a:extLst>
          </p:cNvPr>
          <p:cNvSpPr txBox="1"/>
          <p:nvPr/>
        </p:nvSpPr>
        <p:spPr>
          <a:xfrm>
            <a:off x="371390" y="1086176"/>
            <a:ext cx="84068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LID4096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Інтегрувати голосового та текстового AI-асистента для мовної практики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ID4096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Реалізувати інтерактивні вправи для розвитку мовних навичок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ID4096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Впровадити систему гейміфікації (рівні, досягнення, рейтинг, щоденні нагороди)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ID4096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Реалізувати адміністративну панель для керування AI-асистентом і навчальними вправами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noProof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Забезпечити оцінювання результатів виконання вправ та відображення прогресу користувача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ID4096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Провести тестування програмної системи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2050" name="Picture 2" descr="What Is React &amp; How Does It Actually Work? ReactJS is one of the most  popular JavaScript libraries for mobile and web application development.  Created by Facebook, React contains a collection of… -">
            <a:extLst>
              <a:ext uri="{FF2B5EF4-FFF2-40B4-BE49-F238E27FC236}">
                <a16:creationId xmlns:a16="http://schemas.microsoft.com/office/drawing/2014/main" id="{FF1DED3E-FB8F-68C3-55D9-0D51699A2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" y="1268413"/>
            <a:ext cx="1674261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ood &amp; Bad Facts of Node JS Web App Development">
            <a:extLst>
              <a:ext uri="{FF2B5EF4-FFF2-40B4-BE49-F238E27FC236}">
                <a16:creationId xmlns:a16="http://schemas.microsoft.com/office/drawing/2014/main" id="{1955331C-712A-F5FB-058C-F5E586D93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1206095"/>
            <a:ext cx="2200274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Express.js Development Services in Kuwait | RedBerries">
            <a:extLst>
              <a:ext uri="{FF2B5EF4-FFF2-40B4-BE49-F238E27FC236}">
                <a16:creationId xmlns:a16="http://schemas.microsoft.com/office/drawing/2014/main" id="{D6FFD0D5-8B10-8ABE-621C-F67EA7326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713" y="1504989"/>
            <a:ext cx="1949068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QLite - Wikiversity">
            <a:extLst>
              <a:ext uri="{FF2B5EF4-FFF2-40B4-BE49-F238E27FC236}">
                <a16:creationId xmlns:a16="http://schemas.microsoft.com/office/drawing/2014/main" id="{57A6AEFA-A0F8-5247-0024-D78C1A8CE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919" y="2785014"/>
            <a:ext cx="1780986" cy="84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PI Parameters | Configure OpenRouter API Requests | OpenRouter |  Documentation">
            <a:extLst>
              <a:ext uri="{FF2B5EF4-FFF2-40B4-BE49-F238E27FC236}">
                <a16:creationId xmlns:a16="http://schemas.microsoft.com/office/drawing/2014/main" id="{1FD811AE-9E85-2BEE-4D15-6B9B32683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50" y="2819400"/>
            <a:ext cx="2493898" cy="83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Mastering Sequelize ORM: Why Developers Choose It for Efficient Database  Management” | by Sourabh Jangid | Medium">
            <a:extLst>
              <a:ext uri="{FF2B5EF4-FFF2-40B4-BE49-F238E27FC236}">
                <a16:creationId xmlns:a16="http://schemas.microsoft.com/office/drawing/2014/main" id="{790D5550-84C6-3FED-E76B-DC28DADE9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842" y="2785014"/>
            <a:ext cx="2324810" cy="97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>
                <a:latin typeface="Economica" panose="020B0604020202020204" charset="0"/>
              </a:rPr>
              <a:t>Діаграма використання</a:t>
            </a:r>
            <a:endParaRPr sz="3200"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D14BB5-B178-C21E-256B-770148BAE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823" y="678302"/>
            <a:ext cx="4632354" cy="428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0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3200" dirty="0"/>
              <a:t>ER-</a:t>
            </a:r>
            <a:r>
              <a:rPr lang="uk-UA" sz="3200" dirty="0"/>
              <a:t>діаграма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B48B77-9ACD-C961-ECE0-D2F7096B5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436" y="678302"/>
            <a:ext cx="4651578" cy="410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5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Д</a:t>
            </a:r>
            <a:r>
              <a:rPr lang="uk-UA" sz="3200" noProof="1"/>
              <a:t>іаграма</a:t>
            </a:r>
            <a:r>
              <a:rPr lang="uk-UA" sz="3200" dirty="0"/>
              <a:t> діяльності 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44D865-B205-24A1-82D3-CF3E9BA82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403" y="678302"/>
            <a:ext cx="4111193" cy="407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3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119122"/>
            <a:ext cx="8520600" cy="581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Діаграма розгортання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229437-BE42-83F8-3D83-2E9D4080F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816" y="1180959"/>
            <a:ext cx="4464367" cy="36723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21125-4FFB-7825-ABF3-714332B572A2}"/>
              </a:ext>
            </a:extLst>
          </p:cNvPr>
          <p:cNvSpPr txBox="1"/>
          <p:nvPr/>
        </p:nvSpPr>
        <p:spPr>
          <a:xfrm>
            <a:off x="4812558" y="3078948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Фрагмент інтеграції </a:t>
            </a:r>
            <a:r>
              <a:rPr lang="nl-BE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OpenRouter API</a:t>
            </a:r>
            <a:endParaRPr lang="LID4096" sz="9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E8CF9-DAAD-E074-5875-F88FA7C93AA0}"/>
              </a:ext>
            </a:extLst>
          </p:cNvPr>
          <p:cNvSpPr txBox="1"/>
          <p:nvPr/>
        </p:nvSpPr>
        <p:spPr>
          <a:xfrm>
            <a:off x="-10235" y="3639314"/>
            <a:ext cx="4539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noProof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Фрагмент реалізації алгоритму вибору випадкової нагороди колеса фортуни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6D0049B-5DB9-7A48-61AB-1E3A29581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34" y="1231519"/>
            <a:ext cx="3943534" cy="234427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CE3DED0-AA7E-B536-434F-42DD701BC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951" y="1771853"/>
            <a:ext cx="4418115" cy="1274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122438-CD78-BD51-628B-71442F22E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559" y="990617"/>
            <a:ext cx="6536879" cy="3246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621125-4FFB-7825-ABF3-714332B572A2}"/>
              </a:ext>
            </a:extLst>
          </p:cNvPr>
          <p:cNvSpPr txBox="1"/>
          <p:nvPr/>
        </p:nvSpPr>
        <p:spPr>
          <a:xfrm>
            <a:off x="3353193" y="4292954"/>
            <a:ext cx="24376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Модуль інтерактивних вправ</a:t>
            </a:r>
            <a:endParaRPr lang="LID4096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918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DD7CD-0B2C-EEAA-0346-7A523884CD5C}"/>
              </a:ext>
            </a:extLst>
          </p:cNvPr>
          <p:cNvSpPr txBox="1"/>
          <p:nvPr/>
        </p:nvSpPr>
        <p:spPr>
          <a:xfrm>
            <a:off x="3704826" y="4359500"/>
            <a:ext cx="17343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Модуль </a:t>
            </a:r>
            <a:r>
              <a:rPr lang="nl-BE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асистента</a:t>
            </a:r>
            <a:endParaRPr lang="LID4096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9AFA4D-A32C-39F2-28BD-B47FEAB5D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341" y="1026132"/>
            <a:ext cx="5969317" cy="327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6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E77764-6AC8-537C-4B74-67A9FB77B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53" y="1055957"/>
            <a:ext cx="3923498" cy="28541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607F8B-4A8A-AB4E-7D76-9F2F2B43D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900" y="1447868"/>
            <a:ext cx="4371340" cy="2070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49DDEB-CA45-2740-1206-3EDCD4683ED9}"/>
              </a:ext>
            </a:extLst>
          </p:cNvPr>
          <p:cNvSpPr txBox="1"/>
          <p:nvPr/>
        </p:nvSpPr>
        <p:spPr>
          <a:xfrm>
            <a:off x="394503" y="3903984"/>
            <a:ext cx="3859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noProof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Фрагмент модульного тестування системи досягнень</a:t>
            </a:r>
            <a:endParaRPr lang="ru-RU" sz="1050" noProof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6C4320D-BAAF-356B-D667-66D33BF1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283" y="3518222"/>
            <a:ext cx="312457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Результат виконання модульних тестів</a:t>
            </a:r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Висновки </a:t>
            </a:r>
            <a:endParaRPr sz="32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868F7-2481-AEC8-F7E3-F54995D0C0E5}"/>
              </a:ext>
            </a:extLst>
          </p:cNvPr>
          <p:cNvSpPr txBox="1"/>
          <p:nvPr/>
        </p:nvSpPr>
        <p:spPr>
          <a:xfrm>
            <a:off x="311700" y="1162844"/>
            <a:ext cx="8591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Проведено аналіз предметної області та визначено вимоги до програмної системи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800" noProof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Спроєктовано</a:t>
            </a:r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реалізовано вебзастосунок для вивчення англійської мови з використанням </a:t>
            </a:r>
            <a:r>
              <a:rPr lang="nl-BE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</a:t>
            </a:r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асистента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Реалізовано інтерактивні вправи, систему гейміфікації та механізм збереження прогресу користувача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Передбачено можливість подальшого розширення функціональності та вдосконалення AI-асистента</a:t>
            </a:r>
            <a:endParaRPr lang="LID4096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до кв_р_бакалавра-2025</Template>
  <TotalTime>247</TotalTime>
  <Words>253</Words>
  <Application>Microsoft Office PowerPoint</Application>
  <PresentationFormat>Екран (16:9)</PresentationFormat>
  <Paragraphs>52</Paragraphs>
  <Slides>14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9" baseType="lpstr">
      <vt:lpstr>Times New Roman</vt:lpstr>
      <vt:lpstr>Economica</vt:lpstr>
      <vt:lpstr>Open Sans</vt:lpstr>
      <vt:lpstr>Arial</vt:lpstr>
      <vt:lpstr>Шаблон презентації кваліфікаційної роботи магістрів</vt:lpstr>
      <vt:lpstr>Презентація PowerPoint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Діаграма використання</vt:lpstr>
      <vt:lpstr>ER-діаграма</vt:lpstr>
      <vt:lpstr>Діаграма діяльності </vt:lpstr>
      <vt:lpstr>Діаграма розгортання</vt:lpstr>
      <vt:lpstr>Приклад реалізації</vt:lpstr>
      <vt:lpstr>Інтерфейс користувача</vt:lpstr>
      <vt:lpstr>Інтерфейс користувача </vt:lpstr>
      <vt:lpstr>Тестування</vt:lpstr>
      <vt:lpstr>Висновки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Miach</dc:creator>
  <cp:lastModifiedBy>Kate Miach</cp:lastModifiedBy>
  <cp:revision>3</cp:revision>
  <dcterms:created xsi:type="dcterms:W3CDTF">2026-06-29T17:56:46Z</dcterms:created>
  <dcterms:modified xsi:type="dcterms:W3CDTF">2026-07-01T10:44:13Z</dcterms:modified>
</cp:coreProperties>
</file>