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3" r:id="rId11"/>
    <p:sldId id="271" r:id="rId12"/>
    <p:sldId id="268" r:id="rId13"/>
    <p:sldId id="267" r:id="rId14"/>
  </p:sldIdLst>
  <p:sldSz cx="9144000" cy="5143500" type="screen16x9"/>
  <p:notesSz cx="6858000" cy="9144000"/>
  <p:embeddedFontLst>
    <p:embeddedFont>
      <p:font typeface="Economica" panose="020B0604020202020204" charset="0"/>
      <p:regular r:id="rId16"/>
      <p:bold r:id="rId17"/>
      <p:italic r:id="rId18"/>
      <p:boldItalic r:id="rId19"/>
    </p:embeddedFont>
    <p:embeddedFont>
      <p:font typeface="Open Sans" panose="020B0606030504020204" pitchFamily="34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492" y="6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1013748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0ddf966691_0_1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0ddf966691_0_1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2e16b2adad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2e16b2adad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2e16b2adad1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2e16b2adad1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e16b2adad1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2e16b2adad1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e16b2adad1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2e16b2adad1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2e16b2adad1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2e16b2adad1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e16b2adad1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2e16b2adad1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e16b2adad1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e16b2adad1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e16b2adad1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e16b2adad1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619697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e16b2adad1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e16b2adad1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962279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e16b2adad1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2e16b2adad1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2e16b2adad1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2e16b2adad1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756700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1" name="Google Shape;11;p2"/>
          <p:cNvSpPr/>
          <p:nvPr/>
        </p:nvSpPr>
        <p:spPr>
          <a:xfrm rot="10800000">
            <a:off x="5318350" y="32667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044700" y="1444255"/>
            <a:ext cx="3054600" cy="153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uk-UA"/>
              <a:t>Клацніть, щоб редагувати стиль зразка заголовка</a:t>
            </a:r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044700" y="3116580"/>
            <a:ext cx="30546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r>
              <a:rPr lang="uk-UA"/>
              <a:t>Клацніть, щоб редагувати стиль зразка підзаголовка</a:t>
            </a:r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 flipH="1">
            <a:off x="7595938" y="4602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7" name="Google Shape;17;p3"/>
          <p:cNvSpPr/>
          <p:nvPr/>
        </p:nvSpPr>
        <p:spPr>
          <a:xfrm rot="10800000" flipH="1">
            <a:off x="466425" y="35583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uk-UA"/>
              <a:t>Клацніть, щоб редагувати стиль зразка заголовка</a:t>
            </a:r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uk-UA"/>
              <a:t>Клацніть, щоб редагувати стиль зразка заголовка</a:t>
            </a:r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uk-UA"/>
              <a:t>Клацніть, щоб редагувати стиль зразка заголовка</a:t>
            </a:r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39999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832400" y="1225225"/>
            <a:ext cx="39999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uk-UA"/>
              <a:t>Клацніть, щоб редагувати стиль зразка заголовка</a:t>
            </a:r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rPr lang="uk-UA"/>
              <a:t>Клацніть, щоб редагувати стиль зразка заголовка</a:t>
            </a:r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399400"/>
            <a:ext cx="2808000" cy="278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5878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rPr lang="uk-UA"/>
              <a:t>Клацніть, щоб редагувати стиль зразка заголовка</a:t>
            </a:r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265500" y="929275"/>
            <a:ext cx="4045200" cy="178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r>
              <a:rPr lang="uk-UA"/>
              <a:t>Клацніть, щоб редагувати стиль зразка заголовка</a:t>
            </a:r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57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r>
              <a:rPr lang="uk-UA"/>
              <a:t>Клацніть, щоб редагувати стиль зразка підзаголовка</a:t>
            </a:r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7" name="Google Shape;47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>
            <a:spLocks noGrp="1"/>
          </p:cNvSpPr>
          <p:nvPr>
            <p:ph type="body" idx="1"/>
          </p:nvPr>
        </p:nvSpPr>
        <p:spPr>
          <a:xfrm>
            <a:off x="319500" y="4218925"/>
            <a:ext cx="5998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957125"/>
            <a:ext cx="8520600" cy="212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3162000"/>
            <a:ext cx="8520600" cy="107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Пустий слайд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>
            <a:spLocks noGrp="1"/>
          </p:cNvSpPr>
          <p:nvPr>
            <p:ph type="subTitle" idx="1"/>
          </p:nvPr>
        </p:nvSpPr>
        <p:spPr>
          <a:xfrm>
            <a:off x="1131174" y="3593150"/>
            <a:ext cx="6021465" cy="153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1900" dirty="0"/>
              <a:t>ПІБ, група:              М’яч Катерина Олександрівна, ПЗП</a:t>
            </a:r>
            <a:r>
              <a:rPr lang="uk-UA" sz="1900" dirty="0"/>
              <a:t>І-22-9</a:t>
            </a:r>
            <a:endParaRPr sz="19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1900" dirty="0"/>
              <a:t>Керівник:                </a:t>
            </a:r>
            <a:r>
              <a:rPr lang="uk-UA" sz="1900" noProof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ст.викл</a:t>
            </a:r>
            <a:r>
              <a:rPr lang="uk-UA" sz="19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 кафедри ПІ Катерина </a:t>
            </a:r>
            <a:r>
              <a:rPr lang="uk-UA" sz="1900" noProof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Зибіна</a:t>
            </a:r>
            <a:endParaRPr lang="uk-UA" sz="1900" noProof="1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dirty="0"/>
              <a:t> 	06 липня 2026</a:t>
            </a:r>
            <a:endParaRPr dirty="0"/>
          </a:p>
        </p:txBody>
      </p:sp>
      <p:pic>
        <p:nvPicPr>
          <p:cNvPr id="64" name="Google Shape;6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4725" y="170825"/>
            <a:ext cx="2133975" cy="389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068504" y="170825"/>
            <a:ext cx="1924921" cy="43917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71;p14">
            <a:extLst>
              <a:ext uri="{FF2B5EF4-FFF2-40B4-BE49-F238E27FC236}">
                <a16:creationId xmlns:a16="http://schemas.microsoft.com/office/drawing/2014/main" id="{CCC821F9-F109-68BA-2EEB-7AED391FC86A}"/>
              </a:ext>
            </a:extLst>
          </p:cNvPr>
          <p:cNvSpPr txBox="1">
            <a:spLocks/>
          </p:cNvSpPr>
          <p:nvPr/>
        </p:nvSpPr>
        <p:spPr>
          <a:xfrm>
            <a:off x="2769148" y="560600"/>
            <a:ext cx="3200829" cy="17101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R="0" lvl="1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R="0" lvl="2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R="0" lvl="3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R="0" lvl="4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R="0" lvl="5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R="0" lvl="6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R="0" lvl="7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R="0" lvl="8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algn="l"/>
            <a:r>
              <a:rPr lang="uk-UA" sz="1800" noProof="1"/>
              <a:t>Вебзастосунок для вивчення англійської мови. Розробка гейміфікованого навчального модуля та інтеграція голосового AI-чату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Мета роботи</a:t>
            </a:r>
            <a:endParaRPr sz="3200" dirty="0"/>
          </a:p>
        </p:txBody>
      </p:sp>
      <p:sp>
        <p:nvSpPr>
          <p:cNvPr id="72" name="Google Shape;72;p14"/>
          <p:cNvSpPr txBox="1">
            <a:spLocks noGrp="1"/>
          </p:cNvSpPr>
          <p:nvPr>
            <p:ph type="body" idx="1"/>
          </p:nvPr>
        </p:nvSpPr>
        <p:spPr>
          <a:xfrm>
            <a:off x="311700" y="1005500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>
              <a:spcBef>
                <a:spcPts val="1200"/>
              </a:spcBef>
              <a:buNone/>
            </a:pPr>
            <a:r>
              <a:rPr lang="ru-RU" dirty="0"/>
              <a:t>Метою </a:t>
            </a:r>
            <a:r>
              <a:rPr lang="ru-RU" noProof="1"/>
              <a:t>кваліфікаційної</a:t>
            </a:r>
            <a:r>
              <a:rPr lang="ru-RU" dirty="0"/>
              <a:t> </a:t>
            </a:r>
            <a:r>
              <a:rPr lang="uk-UA" dirty="0"/>
              <a:t>роботи</a:t>
            </a:r>
            <a:r>
              <a:rPr lang="ru-RU" dirty="0"/>
              <a:t> є </a:t>
            </a:r>
            <a:r>
              <a:rPr lang="uk-UA" noProof="1"/>
              <a:t>розробка</a:t>
            </a:r>
            <a:r>
              <a:rPr lang="ru-RU" dirty="0"/>
              <a:t> </a:t>
            </a:r>
            <a:r>
              <a:rPr lang="ru-RU" dirty="0" err="1"/>
              <a:t>вебзастосунку</a:t>
            </a:r>
            <a:r>
              <a:rPr lang="ru-RU" dirty="0"/>
              <a:t> для </a:t>
            </a:r>
            <a:r>
              <a:rPr lang="ru-RU" dirty="0" err="1"/>
              <a:t>вивчення</a:t>
            </a:r>
            <a:r>
              <a:rPr lang="ru-RU" dirty="0"/>
              <a:t> </a:t>
            </a:r>
            <a:r>
              <a:rPr lang="ru-RU" dirty="0" err="1"/>
              <a:t>англійської</a:t>
            </a:r>
            <a:r>
              <a:rPr lang="ru-RU" dirty="0"/>
              <a:t> </a:t>
            </a:r>
            <a:r>
              <a:rPr lang="ru-RU" dirty="0" err="1"/>
              <a:t>мови</a:t>
            </a:r>
            <a:r>
              <a:rPr lang="ru-RU" dirty="0"/>
              <a:t>, яка дозволить </a:t>
            </a:r>
            <a:r>
              <a:rPr lang="ru-RU" dirty="0" err="1"/>
              <a:t>автоматизувати</a:t>
            </a:r>
            <a:r>
              <a:rPr lang="ru-RU" dirty="0"/>
              <a:t> та </a:t>
            </a:r>
            <a:r>
              <a:rPr lang="ru-RU" dirty="0" err="1"/>
              <a:t>персоналізувати</a:t>
            </a:r>
            <a:r>
              <a:rPr lang="ru-RU" dirty="0"/>
              <a:t> </a:t>
            </a:r>
            <a:r>
              <a:rPr lang="ru-RU" dirty="0" err="1"/>
              <a:t>процес</a:t>
            </a:r>
            <a:r>
              <a:rPr lang="ru-RU" dirty="0"/>
              <a:t> </a:t>
            </a:r>
            <a:r>
              <a:rPr lang="ru-RU" dirty="0" err="1"/>
              <a:t>опанування</a:t>
            </a:r>
            <a:r>
              <a:rPr lang="ru-RU" dirty="0"/>
              <a:t> </a:t>
            </a:r>
            <a:r>
              <a:rPr lang="ru-RU" dirty="0" err="1"/>
              <a:t>іноземної</a:t>
            </a:r>
            <a:r>
              <a:rPr lang="ru-RU" dirty="0"/>
              <a:t> </a:t>
            </a:r>
            <a:r>
              <a:rPr lang="ru-RU" dirty="0" err="1"/>
              <a:t>мови</a:t>
            </a:r>
            <a:r>
              <a:rPr lang="ru-RU" dirty="0"/>
              <a:t>. </a:t>
            </a:r>
            <a:r>
              <a:rPr lang="ru-RU" dirty="0" err="1"/>
              <a:t>Програмна</a:t>
            </a:r>
            <a:r>
              <a:rPr lang="ru-RU" dirty="0"/>
              <a:t> система повинна </a:t>
            </a:r>
            <a:r>
              <a:rPr lang="ru-RU" dirty="0" err="1"/>
              <a:t>забезпечити</a:t>
            </a:r>
            <a:r>
              <a:rPr lang="ru-RU" dirty="0"/>
              <a:t> </a:t>
            </a:r>
            <a:r>
              <a:rPr lang="ru-RU" dirty="0" err="1"/>
              <a:t>ефективне</a:t>
            </a:r>
            <a:r>
              <a:rPr lang="ru-RU" dirty="0"/>
              <a:t> </a:t>
            </a:r>
            <a:r>
              <a:rPr lang="ru-RU" dirty="0" err="1"/>
              <a:t>подолання</a:t>
            </a:r>
            <a:r>
              <a:rPr lang="ru-RU" dirty="0"/>
              <a:t> </a:t>
            </a:r>
            <a:r>
              <a:rPr lang="ru-RU" dirty="0" err="1"/>
              <a:t>мовного</a:t>
            </a:r>
            <a:r>
              <a:rPr lang="ru-RU" dirty="0"/>
              <a:t> </a:t>
            </a:r>
            <a:r>
              <a:rPr lang="ru-RU" dirty="0" err="1"/>
              <a:t>бар’єра</a:t>
            </a:r>
            <a:r>
              <a:rPr lang="ru-RU" dirty="0"/>
              <a:t> через </a:t>
            </a:r>
            <a:r>
              <a:rPr lang="ru-RU" dirty="0" err="1"/>
              <a:t>практичне</a:t>
            </a:r>
            <a:r>
              <a:rPr lang="ru-RU" dirty="0"/>
              <a:t> </a:t>
            </a:r>
            <a:r>
              <a:rPr lang="ru-RU" dirty="0" err="1"/>
              <a:t>спілкування</a:t>
            </a:r>
            <a:r>
              <a:rPr lang="ru-RU" dirty="0"/>
              <a:t> з </a:t>
            </a:r>
            <a:r>
              <a:rPr lang="nl-BE" dirty="0"/>
              <a:t>AI-</a:t>
            </a:r>
            <a:r>
              <a:rPr lang="ru-RU" dirty="0" err="1"/>
              <a:t>асистентом</a:t>
            </a:r>
            <a:r>
              <a:rPr lang="ru-RU" dirty="0"/>
              <a:t>, при </a:t>
            </a:r>
            <a:r>
              <a:rPr lang="ru-RU" dirty="0" err="1"/>
              <a:t>цьому</a:t>
            </a:r>
            <a:r>
              <a:rPr lang="ru-RU" dirty="0"/>
              <a:t> </a:t>
            </a:r>
            <a:r>
              <a:rPr lang="ru-RU" dirty="0" err="1"/>
              <a:t>підвищуючи</a:t>
            </a:r>
            <a:r>
              <a:rPr lang="ru-RU" dirty="0"/>
              <a:t> </a:t>
            </a:r>
            <a:r>
              <a:rPr lang="ru-RU" dirty="0" err="1"/>
              <a:t>тривалу</a:t>
            </a:r>
            <a:r>
              <a:rPr lang="ru-RU" dirty="0"/>
              <a:t> </a:t>
            </a:r>
            <a:r>
              <a:rPr lang="ru-RU" dirty="0" err="1"/>
              <a:t>мотивацію</a:t>
            </a:r>
            <a:r>
              <a:rPr lang="ru-RU" dirty="0"/>
              <a:t> </a:t>
            </a:r>
            <a:r>
              <a:rPr lang="ru-RU" dirty="0" err="1"/>
              <a:t>користувачів</a:t>
            </a:r>
            <a:r>
              <a:rPr lang="ru-RU" dirty="0"/>
              <a:t> за </a:t>
            </a:r>
            <a:r>
              <a:rPr lang="ru-RU" dirty="0" err="1"/>
              <a:t>допомогою</a:t>
            </a:r>
            <a:r>
              <a:rPr lang="ru-RU" dirty="0"/>
              <a:t> </a:t>
            </a:r>
            <a:r>
              <a:rPr lang="ru-RU" dirty="0" err="1"/>
              <a:t>ігрових</a:t>
            </a:r>
            <a:r>
              <a:rPr lang="ru-RU" dirty="0"/>
              <a:t> </a:t>
            </a:r>
            <a:r>
              <a:rPr lang="uk-UA" dirty="0"/>
              <a:t>механік</a:t>
            </a:r>
            <a:r>
              <a:rPr lang="ru-RU" dirty="0"/>
              <a:t>.</a:t>
            </a:r>
            <a:endParaRPr lang="ru-RU" dirty="0">
              <a:latin typeface="Economica" panose="020B0604020202020204" charset="0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lang="uk-UA" noProof="1">
              <a:latin typeface="Economica" panose="020B0604020202020204" charset="0"/>
            </a:endParaRPr>
          </a:p>
        </p:txBody>
      </p:sp>
      <p:pic>
        <p:nvPicPr>
          <p:cNvPr id="73" name="Google Shape;73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93E68CA-DEF7-D32D-BFB6-7B402335F4C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2</a:t>
            </a:fld>
            <a:endParaRPr lang="uk-UA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>
            <a:spLocks noGrp="1"/>
          </p:cNvSpPr>
          <p:nvPr>
            <p:ph type="title"/>
          </p:nvPr>
        </p:nvSpPr>
        <p:spPr>
          <a:xfrm>
            <a:off x="311700" y="-124863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Аналіз проблеми (аналіз існуючих рішень) </a:t>
            </a:r>
            <a:endParaRPr sz="3200" dirty="0"/>
          </a:p>
        </p:txBody>
      </p:sp>
      <p:sp>
        <p:nvSpPr>
          <p:cNvPr id="79" name="Google Shape;79;p15"/>
          <p:cNvSpPr txBox="1">
            <a:spLocks noGrp="1"/>
          </p:cNvSpPr>
          <p:nvPr>
            <p:ph type="body" idx="1"/>
          </p:nvPr>
        </p:nvSpPr>
        <p:spPr>
          <a:xfrm>
            <a:off x="1704043" y="3252529"/>
            <a:ext cx="1276788" cy="933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500"/>
              </a:spcBef>
              <a:spcAft>
                <a:spcPts val="0"/>
              </a:spcAft>
              <a:buNone/>
            </a:pPr>
            <a:r>
              <a:rPr lang="nl-BE" i="0" dirty="0">
                <a:solidFill>
                  <a:srgbClr val="2B2D3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Duolingo</a:t>
            </a:r>
            <a:endParaRPr lang="en-BE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80" name="Google Shape;8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62475D-5E0B-A5AC-3922-2970FC56A64D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3</a:t>
            </a:fld>
            <a:endParaRPr lang="uk-UA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7786525-2AED-9BC6-E375-27BBA2CA09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508" y="1249621"/>
            <a:ext cx="4165858" cy="2204777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D67C241-EEED-113C-5EC6-DD8DB0EED6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8634" y="1246329"/>
            <a:ext cx="4165858" cy="2208069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C855D13E-BF85-F1BE-5D99-2E1C9B9B2E79}"/>
              </a:ext>
            </a:extLst>
          </p:cNvPr>
          <p:cNvSpPr txBox="1">
            <a:spLocks/>
          </p:cNvSpPr>
          <p:nvPr/>
        </p:nvSpPr>
        <p:spPr>
          <a:xfrm>
            <a:off x="6445744" y="3252529"/>
            <a:ext cx="711638" cy="93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>
              <a:spcBef>
                <a:spcPts val="1500"/>
              </a:spcBef>
              <a:buFont typeface="Open Sans"/>
              <a:buNone/>
            </a:pPr>
            <a:r>
              <a:rPr lang="nl-BE" i="0" dirty="0">
                <a:solidFill>
                  <a:srgbClr val="2B2D3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iTalki</a:t>
            </a:r>
            <a:endParaRPr lang="en-BE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>
            <a:spLocks noGrp="1"/>
          </p:cNvSpPr>
          <p:nvPr>
            <p:ph type="title"/>
          </p:nvPr>
        </p:nvSpPr>
        <p:spPr>
          <a:xfrm>
            <a:off x="311700" y="-186276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Постановка задачі та опис системи</a:t>
            </a:r>
            <a:endParaRPr sz="3200" dirty="0"/>
          </a:p>
        </p:txBody>
      </p:sp>
      <p:pic>
        <p:nvPicPr>
          <p:cNvPr id="87" name="Google Shape;87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23D9805-068E-FE7E-BC9A-0C410D68B73B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4</a:t>
            </a:fld>
            <a:endParaRPr lang="uk-UA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989A809-80E6-A9A7-F000-D7BCD23075D9}"/>
              </a:ext>
            </a:extLst>
          </p:cNvPr>
          <p:cNvSpPr txBox="1"/>
          <p:nvPr/>
        </p:nvSpPr>
        <p:spPr>
          <a:xfrm>
            <a:off x="371390" y="1086176"/>
            <a:ext cx="840685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LID4096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Інтегрувати голосового та текстового AI-асистента для мовної практики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LID4096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Реалізувати інтерактивні вправи для розвитку мовних навичок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LID4096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Впровадити систему гейміфікації (рівні, досягнення, рейтинг, щоденні нагороди)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LID4096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Реалізувати адміністративну панель для керування AI-асистентом і навчальними вправами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noProof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Забезпечити оцінювання результатів виконання вправ та відображення прогресу користувача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LID4096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Провести тестування програмної системи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>
            <a:spLocks noGrp="1"/>
          </p:cNvSpPr>
          <p:nvPr>
            <p:ph type="title"/>
          </p:nvPr>
        </p:nvSpPr>
        <p:spPr>
          <a:xfrm>
            <a:off x="311700" y="-148309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Вибір технологій розробки </a:t>
            </a:r>
            <a:endParaRPr sz="3200" dirty="0"/>
          </a:p>
        </p:txBody>
      </p:sp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343E912-C721-1128-5F72-D9BB9BCF5CCA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5</a:t>
            </a:fld>
            <a:endParaRPr lang="uk-UA" dirty="0"/>
          </a:p>
        </p:txBody>
      </p:sp>
      <p:pic>
        <p:nvPicPr>
          <p:cNvPr id="2050" name="Picture 2" descr="What Is React &amp; How Does It Actually Work? ReactJS is one of the most  popular JavaScript libraries for mobile and web application development.  Created by Facebook, React contains a collection of… -">
            <a:extLst>
              <a:ext uri="{FF2B5EF4-FFF2-40B4-BE49-F238E27FC236}">
                <a16:creationId xmlns:a16="http://schemas.microsoft.com/office/drawing/2014/main" id="{FF1DED3E-FB8F-68C3-55D9-0D51699A29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275" y="1268413"/>
            <a:ext cx="1674261" cy="11001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Good &amp; Bad Facts of Node JS Web App Development">
            <a:extLst>
              <a:ext uri="{FF2B5EF4-FFF2-40B4-BE49-F238E27FC236}">
                <a16:creationId xmlns:a16="http://schemas.microsoft.com/office/drawing/2014/main" id="{1955331C-712A-F5FB-058C-F5E586D931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43275" y="1206095"/>
            <a:ext cx="2200274" cy="11001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Express.js Development Services in Kuwait | RedBerries">
            <a:extLst>
              <a:ext uri="{FF2B5EF4-FFF2-40B4-BE49-F238E27FC236}">
                <a16:creationId xmlns:a16="http://schemas.microsoft.com/office/drawing/2014/main" id="{D6FFD0D5-8B10-8ABE-621C-F67EA7326B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8713" y="1504989"/>
            <a:ext cx="1949068" cy="55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SQLite - Wikiversity">
            <a:extLst>
              <a:ext uri="{FF2B5EF4-FFF2-40B4-BE49-F238E27FC236}">
                <a16:creationId xmlns:a16="http://schemas.microsoft.com/office/drawing/2014/main" id="{57A6AEFA-A0F8-5247-0024-D78C1A8CE7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2919" y="2785014"/>
            <a:ext cx="1780986" cy="843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API Parameters | Configure OpenRouter API Requests | OpenRouter |  Documentation">
            <a:extLst>
              <a:ext uri="{FF2B5EF4-FFF2-40B4-BE49-F238E27FC236}">
                <a16:creationId xmlns:a16="http://schemas.microsoft.com/office/drawing/2014/main" id="{1FD811AE-9E85-2BEE-4D15-6B9B32683B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450" y="2819400"/>
            <a:ext cx="2493898" cy="831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Mastering Sequelize ORM: Why Developers Choose It for Efficient Database  Management” | by Sourabh Jangid | Medium">
            <a:extLst>
              <a:ext uri="{FF2B5EF4-FFF2-40B4-BE49-F238E27FC236}">
                <a16:creationId xmlns:a16="http://schemas.microsoft.com/office/drawing/2014/main" id="{790D5550-84C6-3FED-E76B-DC28DADE9B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20842" y="2785014"/>
            <a:ext cx="2324810" cy="970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>
            <a:spLocks noGrp="1"/>
          </p:cNvSpPr>
          <p:nvPr>
            <p:ph type="title"/>
          </p:nvPr>
        </p:nvSpPr>
        <p:spPr>
          <a:xfrm>
            <a:off x="268925" y="349659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Архітектура створенного програмного забезпечення</a:t>
            </a:r>
            <a:endParaRPr sz="3200" dirty="0"/>
          </a:p>
        </p:txBody>
      </p:sp>
      <p:pic>
        <p:nvPicPr>
          <p:cNvPr id="101" name="Google Shape;101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2A55726-B906-08A2-C43F-1B00FCF5F354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6</a:t>
            </a:fld>
            <a:endParaRPr lang="uk-UA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B229437-BE42-83F8-3D83-2E9D4080F4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9816" y="1180959"/>
            <a:ext cx="4464367" cy="367238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9"/>
          <p:cNvSpPr txBox="1">
            <a:spLocks noGrp="1"/>
          </p:cNvSpPr>
          <p:nvPr>
            <p:ph type="title"/>
          </p:nvPr>
        </p:nvSpPr>
        <p:spPr>
          <a:xfrm>
            <a:off x="311700" y="31240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Опис програмного забезпечення, що було використано у дослідженні</a:t>
            </a:r>
            <a:endParaRPr sz="3200" dirty="0"/>
          </a:p>
        </p:txBody>
      </p:sp>
      <p:pic>
        <p:nvPicPr>
          <p:cNvPr id="108" name="Google Shape;10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226AFC1-F793-030A-440F-FC50C3AEF715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7</a:t>
            </a:fld>
            <a:endParaRPr lang="uk-U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F311DB-4761-1ABE-B23B-BBCB92337F16}"/>
              </a:ext>
            </a:extLst>
          </p:cNvPr>
          <p:cNvSpPr txBox="1"/>
          <p:nvPr/>
        </p:nvSpPr>
        <p:spPr>
          <a:xfrm>
            <a:off x="311700" y="1597438"/>
            <a:ext cx="81592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uk-UA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Розроблено </a:t>
            </a:r>
            <a:r>
              <a:rPr lang="uk-UA" sz="1800" noProof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вебзастосунок</a:t>
            </a:r>
            <a:r>
              <a:rPr lang="uk-UA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за клієнт-серверною архітектурою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uk-UA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Реалізовано голосового та текстового </a:t>
            </a:r>
            <a:r>
              <a:rPr lang="nl-BE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AI-</a:t>
            </a:r>
            <a:r>
              <a:rPr lang="uk-UA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асистента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uk-UA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Створено інтерактивні навчальні вправи та систему </a:t>
            </a:r>
            <a:r>
              <a:rPr lang="uk-UA" sz="1800" noProof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гейміфікації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uk-UA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Використано </a:t>
            </a:r>
            <a:r>
              <a:rPr lang="nl-BE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JavaScript, React, Node.js, Express.js, SQLite, Sequelize ORM</a:t>
            </a:r>
            <a:endParaRPr lang="uk-UA" sz="18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uk-UA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Інтегровано </a:t>
            </a:r>
            <a:r>
              <a:rPr lang="nl-BE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OpenRouter API </a:t>
            </a:r>
            <a:r>
              <a:rPr lang="uk-UA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та </a:t>
            </a:r>
            <a:r>
              <a:rPr lang="nl-BE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Web Speech API </a:t>
            </a:r>
            <a:r>
              <a:rPr lang="uk-UA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для </a:t>
            </a:r>
            <a:r>
              <a:rPr lang="nl-BE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AI </a:t>
            </a:r>
            <a:r>
              <a:rPr lang="uk-UA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і голосової взаємодії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uk-UA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Проведено тестування програмної системи</a:t>
            </a:r>
            <a:endParaRPr lang="LID4096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0"/>
          <p:cNvSpPr txBox="1">
            <a:spLocks noGrp="1"/>
          </p:cNvSpPr>
          <p:nvPr>
            <p:ph type="title"/>
          </p:nvPr>
        </p:nvSpPr>
        <p:spPr>
          <a:xfrm>
            <a:off x="311700" y="-92038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Дизайн системи</a:t>
            </a:r>
            <a:endParaRPr sz="3200" dirty="0"/>
          </a:p>
        </p:txBody>
      </p:sp>
      <p:pic>
        <p:nvPicPr>
          <p:cNvPr id="115" name="Google Shape;115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8624834-013E-7249-F488-C816A0DA9355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8</a:t>
            </a:fld>
            <a:endParaRPr lang="uk-U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3D4198-6C9D-C487-82F4-7DEE2A0F5113}"/>
              </a:ext>
            </a:extLst>
          </p:cNvPr>
          <p:cNvSpPr txBox="1"/>
          <p:nvPr/>
        </p:nvSpPr>
        <p:spPr>
          <a:xfrm>
            <a:off x="311700" y="1293943"/>
            <a:ext cx="751205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uk-UA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Інтуїтивно зрозумілий та зручний інтерфейс користувача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uk-UA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Логічна навігація між навчальними модулями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uk-UA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Компонентна побудова інтерфейсу для спрощення підтримки та розширення системи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uk-UA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Адаптивний дизайн для роботи на різних пристроях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uk-UA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Єдиний стиль оформлення всіх сторінок застосунку</a:t>
            </a:r>
            <a:endParaRPr lang="LID4096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/>
          <p:cNvSpPr txBox="1">
            <a:spLocks noGrp="1"/>
          </p:cNvSpPr>
          <p:nvPr>
            <p:ph type="title"/>
          </p:nvPr>
        </p:nvSpPr>
        <p:spPr>
          <a:xfrm>
            <a:off x="268925" y="-152998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Приклад реалізації</a:t>
            </a:r>
            <a:endParaRPr sz="3200" dirty="0"/>
          </a:p>
        </p:txBody>
      </p:sp>
      <p:pic>
        <p:nvPicPr>
          <p:cNvPr id="122" name="Google Shape;122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8800C66-AABB-EFA8-12F4-0C56A1243712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9</a:t>
            </a:fld>
            <a:endParaRPr lang="uk-UA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621125-4FFB-7825-ABF3-714332B572A2}"/>
              </a:ext>
            </a:extLst>
          </p:cNvPr>
          <p:cNvSpPr txBox="1"/>
          <p:nvPr/>
        </p:nvSpPr>
        <p:spPr>
          <a:xfrm>
            <a:off x="4812558" y="3078948"/>
            <a:ext cx="3657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uk-UA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Фрагмент інтеграції </a:t>
            </a:r>
            <a:r>
              <a:rPr lang="nl-BE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OpenRouter API</a:t>
            </a:r>
            <a:endParaRPr lang="LID4096" sz="9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CE8CF9-DAAD-E074-5875-F88FA7C93AA0}"/>
              </a:ext>
            </a:extLst>
          </p:cNvPr>
          <p:cNvSpPr txBox="1"/>
          <p:nvPr/>
        </p:nvSpPr>
        <p:spPr>
          <a:xfrm>
            <a:off x="-10235" y="3639314"/>
            <a:ext cx="45394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200" noProof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Фрагмент реалізації алгоритму вибору випадкової нагороди колеса фортуни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96D0049B-5DB9-7A48-61AB-1E3A295811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934" y="1231519"/>
            <a:ext cx="3943534" cy="2344276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FCE3DED0-AA7E-B536-434F-42DD701BC5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5951" y="1771853"/>
            <a:ext cx="4418115" cy="127472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/>
          <p:cNvSpPr txBox="1">
            <a:spLocks noGrp="1"/>
          </p:cNvSpPr>
          <p:nvPr>
            <p:ph type="title"/>
          </p:nvPr>
        </p:nvSpPr>
        <p:spPr>
          <a:xfrm>
            <a:off x="268925" y="-152998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Інтерфейс користувача</a:t>
            </a:r>
            <a:endParaRPr sz="3200" dirty="0"/>
          </a:p>
        </p:txBody>
      </p:sp>
      <p:pic>
        <p:nvPicPr>
          <p:cNvPr id="122" name="Google Shape;122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8800C66-AABB-EFA8-12F4-0C56A1243712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10</a:t>
            </a:fld>
            <a:endParaRPr lang="uk-UA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6122438-CD78-BD51-628B-71442F22E2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3559" y="990617"/>
            <a:ext cx="6536879" cy="324653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3621125-4FFB-7825-ABF3-714332B572A2}"/>
              </a:ext>
            </a:extLst>
          </p:cNvPr>
          <p:cNvSpPr txBox="1"/>
          <p:nvPr/>
        </p:nvSpPr>
        <p:spPr>
          <a:xfrm>
            <a:off x="3353193" y="4292954"/>
            <a:ext cx="243761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Модуль інтерактивних вправ</a:t>
            </a:r>
            <a:endParaRPr lang="LID4096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99185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/>
          <p:cNvSpPr txBox="1">
            <a:spLocks noGrp="1"/>
          </p:cNvSpPr>
          <p:nvPr>
            <p:ph type="title"/>
          </p:nvPr>
        </p:nvSpPr>
        <p:spPr>
          <a:xfrm>
            <a:off x="268925" y="-152998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Інтерфейс користувача </a:t>
            </a:r>
            <a:endParaRPr sz="3200" dirty="0"/>
          </a:p>
        </p:txBody>
      </p:sp>
      <p:pic>
        <p:nvPicPr>
          <p:cNvPr id="122" name="Google Shape;122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8800C66-AABB-EFA8-12F4-0C56A1243712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11</a:t>
            </a:fld>
            <a:endParaRPr lang="uk-UA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BDD7CD-0B2C-EEAA-0346-7A523884CD5C}"/>
              </a:ext>
            </a:extLst>
          </p:cNvPr>
          <p:cNvSpPr txBox="1"/>
          <p:nvPr/>
        </p:nvSpPr>
        <p:spPr>
          <a:xfrm>
            <a:off x="3704826" y="4359500"/>
            <a:ext cx="17343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Модуль </a:t>
            </a:r>
            <a:r>
              <a:rPr lang="nl-BE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AI-</a:t>
            </a:r>
            <a:r>
              <a:rPr lang="uk-UA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асистента</a:t>
            </a:r>
            <a:endParaRPr lang="LID4096" sz="1200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A9AFA4D-A32C-39F2-28BD-B47FEAB5D3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7341" y="1026132"/>
            <a:ext cx="5969317" cy="3271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2662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2"/>
          <p:cNvSpPr txBox="1">
            <a:spLocks noGrp="1"/>
          </p:cNvSpPr>
          <p:nvPr>
            <p:ph type="title"/>
          </p:nvPr>
        </p:nvSpPr>
        <p:spPr>
          <a:xfrm>
            <a:off x="268925" y="-14362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Тестування</a:t>
            </a:r>
            <a:endParaRPr sz="3200" dirty="0"/>
          </a:p>
        </p:txBody>
      </p:sp>
      <p:pic>
        <p:nvPicPr>
          <p:cNvPr id="129" name="Google Shape;129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28D948D-369C-B702-98D8-76BFF8794D1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12</a:t>
            </a:fld>
            <a:endParaRPr lang="uk-UA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FE77764-6AC8-537C-4B74-67A9FB77B1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753" y="1055957"/>
            <a:ext cx="3923498" cy="2854176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9607F8B-4A8A-AB4E-7D76-9F2F2B43D3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6900" y="1447868"/>
            <a:ext cx="4371340" cy="207035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149DDEB-CA45-2740-1206-3EDCD4683ED9}"/>
              </a:ext>
            </a:extLst>
          </p:cNvPr>
          <p:cNvSpPr txBox="1"/>
          <p:nvPr/>
        </p:nvSpPr>
        <p:spPr>
          <a:xfrm>
            <a:off x="394503" y="3903984"/>
            <a:ext cx="385999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200" noProof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Фрагмент модульного тестування системи досягнень</a:t>
            </a:r>
            <a:endParaRPr lang="ru-RU" sz="1050" noProof="1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B6C4320D-BAAF-356B-D667-66D33BF163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0283" y="3518222"/>
            <a:ext cx="3124573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LID4096" altLang="LID4096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Результат виконання модульних тестів</a:t>
            </a:r>
          </a:p>
        </p:txBody>
      </p:sp>
    </p:spTree>
    <p:extLst>
      <p:ext uri="{BB962C8B-B14F-4D97-AF65-F5344CB8AC3E}">
        <p14:creationId xmlns:p14="http://schemas.microsoft.com/office/powerpoint/2010/main" val="294221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4"/>
          <p:cNvSpPr txBox="1">
            <a:spLocks noGrp="1"/>
          </p:cNvSpPr>
          <p:nvPr>
            <p:ph type="title"/>
          </p:nvPr>
        </p:nvSpPr>
        <p:spPr>
          <a:xfrm>
            <a:off x="311700" y="-35287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Підсумки </a:t>
            </a:r>
            <a:endParaRPr sz="3200" dirty="0"/>
          </a:p>
        </p:txBody>
      </p:sp>
      <p:pic>
        <p:nvPicPr>
          <p:cNvPr id="143" name="Google Shape;143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B5B94D8-63F6-7EAC-6461-2DB4B135596F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13</a:t>
            </a:fld>
            <a:endParaRPr lang="uk-U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B868F7-2481-AEC8-F7E3-F54995D0C0E5}"/>
              </a:ext>
            </a:extLst>
          </p:cNvPr>
          <p:cNvSpPr txBox="1"/>
          <p:nvPr/>
        </p:nvSpPr>
        <p:spPr>
          <a:xfrm>
            <a:off x="311700" y="1162844"/>
            <a:ext cx="8591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uk-UA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Проведено аналіз предметної області та визначено вимоги до програмної системи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uk-UA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Спроєктовано</a:t>
            </a:r>
            <a:r>
              <a:rPr lang="uk-UA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та реалізовано </a:t>
            </a:r>
            <a:r>
              <a:rPr lang="uk-UA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вебзастосунок</a:t>
            </a:r>
            <a:r>
              <a:rPr lang="uk-UA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для вивчення англійської мови з використанням </a:t>
            </a:r>
            <a:r>
              <a:rPr lang="nl-BE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AI-</a:t>
            </a:r>
            <a:r>
              <a:rPr lang="uk-UA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асистента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uk-UA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Реалізовано інтерактивні вправи, систему </a:t>
            </a:r>
            <a:r>
              <a:rPr lang="uk-UA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гейміфікації</a:t>
            </a:r>
            <a:r>
              <a:rPr lang="uk-UA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та механізм збереження прогресу користувача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Передбачено</a:t>
            </a:r>
            <a:r>
              <a:rPr lang="ru-RU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можливість</a:t>
            </a:r>
            <a:r>
              <a:rPr lang="ru-RU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подальшого</a:t>
            </a:r>
            <a:r>
              <a:rPr lang="ru-RU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розширення</a:t>
            </a:r>
            <a:r>
              <a:rPr lang="ru-RU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функціональності</a:t>
            </a:r>
            <a:r>
              <a:rPr lang="ru-RU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та </a:t>
            </a:r>
            <a:r>
              <a:rPr lang="ru-RU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вдосконалення</a:t>
            </a:r>
            <a:r>
              <a:rPr lang="ru-RU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AI-</a:t>
            </a:r>
            <a:r>
              <a:rPr lang="ru-RU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асистента</a:t>
            </a:r>
            <a:endParaRPr lang="LID4096" sz="18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Шаблон презентації кваліфікаційної роботи магістрів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57BB8A"/>
      </a:accent3>
      <a:accent4>
        <a:srgbClr val="78909C"/>
      </a:accent4>
      <a:accent5>
        <a:srgbClr val="607D8B"/>
      </a:accent5>
      <a:accent6>
        <a:srgbClr val="DCE755"/>
      </a:accent6>
      <a:hlink>
        <a:srgbClr val="607D8B"/>
      </a:hlink>
      <a:folHlink>
        <a:srgbClr val="607D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Шаблон презентації кваліфікаційної роботи магістрів" id="{72E840FA-3155-46C9-BB37-701E4C9B1C67}" vid="{DC416FE5-D050-4603-AD75-8F49A0CCCB6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Шаблон презентації до кв_р_бакалавра-2025</Template>
  <TotalTime>228</TotalTime>
  <Words>342</Words>
  <Application>Microsoft Office PowerPoint</Application>
  <PresentationFormat>Екран (16:9)</PresentationFormat>
  <Paragraphs>61</Paragraphs>
  <Slides>13</Slides>
  <Notes>13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13</vt:i4>
      </vt:variant>
    </vt:vector>
  </HeadingPairs>
  <TitlesOfParts>
    <vt:vector size="18" baseType="lpstr">
      <vt:lpstr>Arial</vt:lpstr>
      <vt:lpstr>Economica</vt:lpstr>
      <vt:lpstr>Times New Roman</vt:lpstr>
      <vt:lpstr>Open Sans</vt:lpstr>
      <vt:lpstr>Шаблон презентації кваліфікаційної роботи магістрів</vt:lpstr>
      <vt:lpstr>Презентація PowerPoint</vt:lpstr>
      <vt:lpstr>Мета роботи</vt:lpstr>
      <vt:lpstr>Аналіз проблеми (аналіз існуючих рішень) </vt:lpstr>
      <vt:lpstr>Постановка задачі та опис системи</vt:lpstr>
      <vt:lpstr>Вибір технологій розробки </vt:lpstr>
      <vt:lpstr>Архітектура створенного програмного забезпечення</vt:lpstr>
      <vt:lpstr>Опис програмного забезпечення, що було використано у дослідженні</vt:lpstr>
      <vt:lpstr>Дизайн системи</vt:lpstr>
      <vt:lpstr>Приклад реалізації</vt:lpstr>
      <vt:lpstr>Інтерфейс користувача</vt:lpstr>
      <vt:lpstr>Інтерфейс користувача </vt:lpstr>
      <vt:lpstr>Тестування</vt:lpstr>
      <vt:lpstr>Підсумки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Kate Miach</dc:creator>
  <cp:lastModifiedBy>Kate Miach</cp:lastModifiedBy>
  <cp:revision>2</cp:revision>
  <dcterms:created xsi:type="dcterms:W3CDTF">2026-06-29T17:56:46Z</dcterms:created>
  <dcterms:modified xsi:type="dcterms:W3CDTF">2026-06-29T21:45:11Z</dcterms:modified>
</cp:coreProperties>
</file>